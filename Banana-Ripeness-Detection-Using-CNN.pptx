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Montserrat Black"/>
      <p:regular r:id="rId16"/>
    </p:embeddedFont>
    <p:embeddedFont>
      <p:font typeface="Montserrat Black"/>
      <p:regular r:id="rId17"/>
    </p:embeddedFont>
    <p:embeddedFont>
      <p:font typeface="Inconsolata"/>
      <p:regular r:id="rId18"/>
    </p:embeddedFont>
    <p:embeddedFont>
      <p:font typeface="Inconsolata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68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 Banana Ripeness Detection Using CNN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26274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Deep Learning Classification Project</a:t>
            </a:r>
            <a:endParaRPr lang="en-US" sz="6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21767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About This Project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project demonstrates how deep learning can be applied to solve a real-world fruit-quality assessment problem with high accuracy. It pioneers a practical and accessible method for determining banana ripeness using computer vision.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3211235"/>
            <a:ext cx="6342102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Users can upload a banana image and instantly understand its freshness and remaining shelf life. The model analyzes the image and predicts whether it is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Overripe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Ripe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Rotten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or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Unripe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7620">
            <a:solidFill>
              <a:srgbClr val="006747"/>
            </a:solidFill>
            <a:prstDash val="solid"/>
          </a:ln>
          <a:effectLst>
            <a:outerShdw sx="100000" sy="100000" kx="0" ky="0" algn="bl" rotWithShape="0" blurRad="0" dist="20320" dir="2700000">
              <a:srgbClr val="00674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 Ripeness Stages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Classifies bananas as Overripe, Ripe, Rotten, or Unripe with precision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7620">
            <a:solidFill>
              <a:srgbClr val="006747"/>
            </a:solidFill>
            <a:prstDash val="solid"/>
          </a:ln>
          <a:effectLst>
            <a:outerShdw sx="100000" sy="100000" kx="0" ky="0" algn="bl" rotWithShape="0" blurRad="0" dist="20320" dir="2700000">
              <a:srgbClr val="00674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30471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Storage Predictions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Estimates storage duration at room temperature and in the fridge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7620">
            <a:solidFill>
              <a:srgbClr val="006747"/>
            </a:solidFill>
            <a:prstDash val="solid"/>
          </a:ln>
          <a:effectLst>
            <a:outerShdw sx="100000" sy="100000" kx="0" ky="0" algn="bl" rotWithShape="0" blurRad="0" dist="20320" dir="2700000">
              <a:srgbClr val="006747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13,478 Images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Comprehensive dataset sourced from Kaggle for robust training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7620">
            <a:solidFill>
              <a:srgbClr val="006747"/>
            </a:solidFill>
            <a:prstDash val="solid"/>
          </a:ln>
          <a:effectLst>
            <a:outerShdw sx="100000" sy="100000" kx="0" ky="0" algn="bl" rotWithShape="0" blurRad="0" dist="20320" dir="2700000">
              <a:srgbClr val="006747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Cloud-Deployed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trained in Google Colab, deployed using Streamlit for accessibility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8196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Summary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621869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dataset is strategically split across training, validation, and test sets to ensure model robustness and generalization. Each ripeness category is well-represented across all phases.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08622"/>
            <a:ext cx="9129951" cy="46362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80955" y="6944916"/>
            <a:ext cx="158710" cy="158710"/>
          </a:xfrm>
          <a:prstGeom prst="roundRect">
            <a:avLst>
              <a:gd name="adj" fmla="val 11523"/>
            </a:avLst>
          </a:prstGeom>
          <a:solidFill>
            <a:srgbClr val="252628"/>
          </a:solidFill>
          <a:ln/>
        </p:spPr>
      </p:sp>
      <p:sp>
        <p:nvSpPr>
          <p:cNvPr id="6" name="Text 3"/>
          <p:cNvSpPr/>
          <p:nvPr/>
        </p:nvSpPr>
        <p:spPr>
          <a:xfrm>
            <a:off x="3100626" y="6944916"/>
            <a:ext cx="634841" cy="15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Training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852035" y="6944916"/>
            <a:ext cx="158710" cy="158710"/>
          </a:xfrm>
          <a:prstGeom prst="roundRect">
            <a:avLst>
              <a:gd name="adj" fmla="val 11523"/>
            </a:avLst>
          </a:prstGeom>
          <a:solidFill>
            <a:srgbClr val="43474A"/>
          </a:solidFill>
          <a:ln/>
        </p:spPr>
      </p:sp>
      <p:sp>
        <p:nvSpPr>
          <p:cNvPr id="8" name="Text 5"/>
          <p:cNvSpPr/>
          <p:nvPr/>
        </p:nvSpPr>
        <p:spPr>
          <a:xfrm>
            <a:off x="5071705" y="6944916"/>
            <a:ext cx="793552" cy="15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81944" y="6944916"/>
            <a:ext cx="158710" cy="158710"/>
          </a:xfrm>
          <a:prstGeom prst="roundRect">
            <a:avLst>
              <a:gd name="adj" fmla="val 11523"/>
            </a:avLst>
          </a:prstGeom>
          <a:solidFill>
            <a:srgbClr val="62676C"/>
          </a:solidFill>
          <a:ln/>
        </p:spPr>
      </p:sp>
      <p:sp>
        <p:nvSpPr>
          <p:cNvPr id="10" name="Text 7"/>
          <p:cNvSpPr/>
          <p:nvPr/>
        </p:nvSpPr>
        <p:spPr>
          <a:xfrm>
            <a:off x="7201614" y="6944916"/>
            <a:ext cx="317421" cy="158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CNN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Input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224×224×3 image with pixel rescaling for normalization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40593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014901"/>
            <a:ext cx="32564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Convolutional Blocks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50531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Three Conv2D + MaxPooling2D + Dropout layers for feature extraction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840593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Global Pooling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GlobalAveragePooling2D reduces spatial dimensions while preserving key features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Dense Layers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Dense(32, ReLU) followed by Dense(4, Softmax) for classification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Adam optimizer with Sparse Categorical Crossentropy loss function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439" y="514945"/>
            <a:ext cx="3994309" cy="468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Performance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5439" y="1451134"/>
            <a:ext cx="5108496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2273260" y="2132648"/>
            <a:ext cx="1872734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Training Epochs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5439" y="2516505"/>
            <a:ext cx="510849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Sufficient iterations for convergence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5439" y="3130510"/>
            <a:ext cx="5108496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92.66%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2273260" y="3812024"/>
            <a:ext cx="1872734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Training Accuracy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5439" y="4195882"/>
            <a:ext cx="510849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Strong learning on training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5439" y="4809887"/>
            <a:ext cx="5108496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93.77%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2190512" y="5491401"/>
            <a:ext cx="2038350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Validation Accuracy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5439" y="5875258"/>
            <a:ext cx="510849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Excellent generalization capability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7077" y="1376243"/>
            <a:ext cx="6276380" cy="62763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37077" y="7821097"/>
            <a:ext cx="7845504" cy="47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model demonstrates minimal overfitting with validation accuracy exceeding training accuracy. Final model saved as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banana_model.keras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for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098" y="617458"/>
            <a:ext cx="5073253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Banana Storage Guide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85098" y="1479709"/>
            <a:ext cx="13060204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ripeness stage has specific storage recommendations to maximize freshness and minimize waste.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5098" y="1937980"/>
            <a:ext cx="13060204" cy="1384816"/>
          </a:xfrm>
          <a:prstGeom prst="roundRect">
            <a:avLst>
              <a:gd name="adj" fmla="val 66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7958" y="1960840"/>
            <a:ext cx="672941" cy="1339096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413" y="2504242"/>
            <a:ext cx="252293" cy="252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9135" y="2129076"/>
            <a:ext cx="210312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Unripe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49135" y="2492693"/>
            <a:ext cx="12005072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Room Temp: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5–7 days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9135" y="2862620"/>
            <a:ext cx="12005072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Fridge: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Not recommended (stops ripening process)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5098" y="3491032"/>
            <a:ext cx="13060204" cy="1384816"/>
          </a:xfrm>
          <a:prstGeom prst="roundRect">
            <a:avLst>
              <a:gd name="adj" fmla="val 66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7958" y="3513892"/>
            <a:ext cx="672941" cy="1339096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413" y="4057293"/>
            <a:ext cx="252293" cy="252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9135" y="3682127"/>
            <a:ext cx="210312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Ripe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649135" y="4045744"/>
            <a:ext cx="12005072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Room Temp: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2–3 days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649135" y="4415671"/>
            <a:ext cx="12005072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Fridge: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5–7 days (skin darkens but fruit stays fresh)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85098" y="5044083"/>
            <a:ext cx="13060204" cy="1384816"/>
          </a:xfrm>
          <a:prstGeom prst="roundRect">
            <a:avLst>
              <a:gd name="adj" fmla="val 66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7958" y="5066943"/>
            <a:ext cx="672941" cy="1339096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413" y="5610344"/>
            <a:ext cx="252293" cy="252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9135" y="5235178"/>
            <a:ext cx="210312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Overripe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649135" y="5598795"/>
            <a:ext cx="12005072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Room Temp: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1–2 days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649135" y="5968722"/>
            <a:ext cx="12005072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Fridge: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3–5 days (ideal for baking)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85098" y="6597134"/>
            <a:ext cx="13060204" cy="1014889"/>
          </a:xfrm>
          <a:prstGeom prst="roundRect">
            <a:avLst>
              <a:gd name="adj" fmla="val 901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7958" y="6619994"/>
            <a:ext cx="672941" cy="969169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15240" dir="2700000">
              <a:srgbClr val="151617">
                <a:alpha val="10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4413" y="6978372"/>
            <a:ext cx="252293" cy="252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9135" y="6788229"/>
            <a:ext cx="210312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Rotten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1649135" y="7151846"/>
            <a:ext cx="12005072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Unsafe to eat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discard immediately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020" y="572810"/>
            <a:ext cx="4947285" cy="618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Deployment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020" y="1710452"/>
            <a:ext cx="989409" cy="1219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16311" y="1908334"/>
            <a:ext cx="2473643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Upload Image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16311" y="2415421"/>
            <a:ext cx="5840254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 uploads a banana photo through the Streamlit interface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20" y="2929890"/>
            <a:ext cx="989409" cy="1219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16311" y="3127772"/>
            <a:ext cx="2473643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CNN Prediction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916311" y="3634859"/>
            <a:ext cx="5840254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analyzes the image and classifies ripeness stage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20" y="4149328"/>
            <a:ext cx="989409" cy="12194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16311" y="4347210"/>
            <a:ext cx="2473643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Storage Advice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916311" y="4854297"/>
            <a:ext cx="5840254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 provides personalized storage recommendations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864" y="1710452"/>
            <a:ext cx="5378887" cy="53788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9020" y="7534394"/>
            <a:ext cx="13172361" cy="6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Streamlit deployment makes the model accessible to anyone with an internet connection, transforming complex computer vision into a user-friendly tool.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517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9850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93790" y="4242554"/>
            <a:ext cx="6419374" cy="1518047"/>
          </a:xfrm>
          <a:prstGeom prst="roundRect">
            <a:avLst>
              <a:gd name="adj" fmla="val 602"/>
            </a:avLst>
          </a:prstGeom>
          <a:solidFill>
            <a:srgbClr val="F8ECE4"/>
          </a:solidFill>
          <a:ln w="7620">
            <a:solidFill>
              <a:srgbClr val="006747"/>
            </a:solidFill>
            <a:prstDash val="solid"/>
          </a:ln>
          <a:effectLst>
            <a:outerShdw sx="100000" sy="100000" kx="0" ky="0" algn="bl" rotWithShape="0" blurRad="0" dist="19050" dir="2700000">
              <a:srgbClr val="00674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483" y="4454247"/>
            <a:ext cx="378273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Successful Implementation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5483" y="4895493"/>
            <a:ext cx="5995987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Built a robust CNN architecture for accurate banana ripeness detection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7237" y="4242554"/>
            <a:ext cx="6419374" cy="1518047"/>
          </a:xfrm>
          <a:prstGeom prst="roundRect">
            <a:avLst>
              <a:gd name="adj" fmla="val 602"/>
            </a:avLst>
          </a:prstGeom>
          <a:solidFill>
            <a:srgbClr val="F8ECE4"/>
          </a:solidFill>
          <a:ln w="7620">
            <a:solidFill>
              <a:srgbClr val="006747"/>
            </a:solidFill>
            <a:prstDash val="solid"/>
          </a:ln>
          <a:effectLst>
            <a:outerShdw sx="100000" sy="100000" kx="0" ky="0" algn="bl" rotWithShape="0" blurRad="0" dist="19050" dir="2700000">
              <a:srgbClr val="00674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28930" y="445424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 Accuracy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8930" y="4895493"/>
            <a:ext cx="5995987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Achieved 93.77% validation accuracy, demonstrating strong generalization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3790" y="5964674"/>
            <a:ext cx="6419374" cy="1518047"/>
          </a:xfrm>
          <a:prstGeom prst="roundRect">
            <a:avLst>
              <a:gd name="adj" fmla="val 602"/>
            </a:avLst>
          </a:prstGeom>
          <a:solidFill>
            <a:srgbClr val="F8ECE4"/>
          </a:solidFill>
          <a:ln w="7620">
            <a:solidFill>
              <a:srgbClr val="006747"/>
            </a:solidFill>
            <a:prstDash val="solid"/>
          </a:ln>
          <a:effectLst>
            <a:outerShdw sx="100000" sy="100000" kx="0" ky="0" algn="bl" rotWithShape="0" blurRad="0" dist="19050" dir="2700000">
              <a:srgbClr val="00674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05483" y="617636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Practical Value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05483" y="6617613"/>
            <a:ext cx="599598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Provides real-world storage guidance to reduce food waste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7237" y="5964674"/>
            <a:ext cx="6419374" cy="1518047"/>
          </a:xfrm>
          <a:prstGeom prst="roundRect">
            <a:avLst>
              <a:gd name="adj" fmla="val 602"/>
            </a:avLst>
          </a:prstGeom>
          <a:solidFill>
            <a:srgbClr val="F8ECE4"/>
          </a:solidFill>
          <a:ln w="7620">
            <a:solidFill>
              <a:srgbClr val="006747"/>
            </a:solidFill>
            <a:prstDash val="solid"/>
          </a:ln>
          <a:effectLst>
            <a:outerShdw sx="100000" sy="100000" kx="0" ky="0" algn="bl" rotWithShape="0" blurRad="0" dist="19050" dir="2700000">
              <a:srgbClr val="00674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28930" y="617636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Scalable Solution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28930" y="6617613"/>
            <a:ext cx="5995987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Ready for deployment and expansion to other fruits and quality metrics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2025-11-27T19:29:26Z</dcterms:created>
  <dcterms:modified xsi:type="dcterms:W3CDTF">2025-11-27T19:29:26Z</dcterms:modified>
</cp:coreProperties>
</file>